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Solventa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Análisis de Modelo Predictivo</a:t>
            </a:r>
            <a:br/>
            <a:r>
              <a:t>y Evaluación de Proveedores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Calibri"/>
              </a:defRPr>
            </a:pPr>
            <a:r>
              <a:t>Prueba Técnica - Data Scientist Jr.  |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82880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74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Modelo Predictivo Interno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Construcción, evaluación y punto de corte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63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Evaluación de Proveedores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Análisis comparativo AB vs XY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206240"/>
            <a:ext cx="731520" cy="7315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3434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617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Decisiones estratégicas para el negocio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Contexto del Análisis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La compañía evalúa el lanzamiento de un nuevo producto dirigido a un segmento de clientes de alto riesgo.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4,315 clientes potenciales analizados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22 variables disponibles (demográficas, financieras)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30+ días: 24.4%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mora 60+ días: 11.7%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2 proveedores evaluados (AB y XY)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4,315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Clientes</a:t>
            </a:r>
            <a:br/>
            <a:r>
              <a:t>Analizados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24.4%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Tasa Mora</a:t>
            </a:r>
            <a:br/>
            <a:r>
              <a:t>30+ días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2286000"/>
            <a:ext cx="1554480" cy="201168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246888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20040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Registros</a:t>
            </a:r>
            <a:br/>
            <a:r>
              <a:t>Proveedores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 Modelo Predictivo -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Variable objetivo: Mora30 (detección temprana)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Modelo seleccionado: Logistic Regression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ROC-AUC: 0.61 (poder predictivo moderado)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Punto de corte: 0.49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 captura 59% de clientes morosos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Tasa de aprobación: 53%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0.61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Capacidad</a:t>
            </a:r>
            <a:br/>
            <a:r>
              <a:t>discriminante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Morosos</a:t>
            </a:r>
            <a:br/>
            <a:r>
              <a:t>detectados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1828800"/>
            <a:ext cx="146304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0" y="19659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Aprobación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498DB"/>
                </a:solidFill>
                <a:latin typeface="Calibri"/>
              </a:defRPr>
            </a:pPr>
            <a:r>
              <a:t>53%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8346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Clientes</a:t>
            </a:r>
            <a:br/>
            <a:r>
              <a:t>aprobados</a:t>
            </a:r>
          </a:p>
        </p:txBody>
      </p:sp>
      <p:pic>
        <p:nvPicPr>
          <p:cNvPr id="19" name="Picture 18" descr="04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5486400" cy="2560320"/>
          </a:xfrm>
          <a:prstGeom prst="rect">
            <a:avLst/>
          </a:prstGeom>
        </p:spPr>
      </p:pic>
      <p:pic>
        <p:nvPicPr>
          <p:cNvPr id="20" name="Picture 19" descr="07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31920"/>
            <a:ext cx="25603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1.1 Punto de Corte Recomendado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Para un producto de alto riesgo, el punto de corte balancea captura de morosos con viabilidad comercial.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029200" cy="18288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PUNTO DE CORTE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0.49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Calibri"/>
              </a:defRPr>
            </a:pPr>
            <a:r>
              <a:t>Cliente con probabilidad ≥ 49% de mora → RECHAZAR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98DB"/>
                </a:solidFill>
                <a:latin typeface="Calibri"/>
              </a:defRPr>
            </a:pPr>
            <a:r>
              <a:t>30.5%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De rechazados,</a:t>
            </a:r>
            <a:br/>
            <a:r>
              <a:t>30% son morosos reales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58.6%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Se detecta 59% de</a:t>
            </a:r>
            <a:br/>
            <a:r>
              <a:t>los morosos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2103120"/>
            <a:ext cx="1828800" cy="18288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2240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C3E50"/>
                </a:solidFill>
                <a:latin typeface="Calibri"/>
              </a:defRPr>
            </a:pPr>
            <a:r>
              <a:t>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2560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74C3C"/>
                </a:solidFill>
                <a:latin typeface="Calibri"/>
              </a:defRPr>
            </a:pPr>
            <a:r>
              <a:t>53.2%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1089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F8C8D"/>
                </a:solidFill>
                <a:latin typeface="Calibri"/>
              </a:defRPr>
            </a:pPr>
            <a:r>
              <a:t>Poco más de la mitad</a:t>
            </a:r>
            <a:br/>
            <a:r>
              <a:t>de clientes aprobados</a:t>
            </a:r>
          </a:p>
        </p:txBody>
      </p:sp>
      <p:pic>
        <p:nvPicPr>
          <p:cNvPr id="23" name="Picture 22" descr="06_cutof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 Evaluación de Proveedores -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  <a:latin typeface="Calibri"/>
              </a:defRPr>
            </a:pPr>
            <a:r>
              <a:t>Análisis de 114,109 registros con puntajes de dos proveedores y variable de default (60.4% tasa)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10312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3017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AB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Proveedor XY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0.65 (aceptable)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KS Statistic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0.0051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0.20 (bueno)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PSI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0.0006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0.10 (estable)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Cobertura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09_roc_compet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80560"/>
            <a:ext cx="5029200" cy="2011680"/>
          </a:xfrm>
          <a:prstGeom prst="rect">
            <a:avLst/>
          </a:prstGeom>
        </p:spPr>
      </p:pic>
      <p:pic>
        <p:nvPicPr>
          <p:cNvPr id="9" name="Picture 8" descr="10_deciles_compet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480560"/>
            <a:ext cx="502920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2.1 Hallazgos Críticos -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00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74C3C"/>
                </a:solidFill>
                <a:latin typeface="Calibri"/>
              </a:defRPr>
            </a:pPr>
            <a:r>
              <a:t>⚠ AMBOS MODELOS TIENEN PODER DISCRIMINANTE EQUIVALENTE AL AZAR (AUC ≈ 0.50)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La tasa de default es ~60% en todos los deciles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hay monotonicidad en la clasificación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Los puntajes no separan buenos de malos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KS &lt; 0.01 indica separación nula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Gini ≈ 0 confirma falta de poder predictivo</a:t>
            </a:r>
          </a:p>
        </p:txBody>
      </p:sp>
      <p:pic>
        <p:nvPicPr>
          <p:cNvPr id="9" name="Picture 8" descr="13_separ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743200"/>
            <a:ext cx="5029200" cy="2286000"/>
          </a:xfrm>
          <a:prstGeom prst="rect">
            <a:avLst/>
          </a:prstGeom>
        </p:spPr>
      </p:pic>
      <p:pic>
        <p:nvPicPr>
          <p:cNvPr id="10" name="Picture 9" descr="11_default_rate_dec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029200"/>
            <a:ext cx="5029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2.2 Recomendación sobre Proveedores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737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RECOMENDACIÓN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No contratar a ninguno de los dos proveedores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Razones: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Sin capacidad discriminante (AUC ≈ 0.50)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Costo sin retorno: equivalente a seleccionar al azar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Proveedor XY: 11.2% de datos sin puntaje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Rangos de scores muy estrechos (AB: std=0.65)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generarían valor vs. selección aleatoria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291840"/>
            <a:ext cx="4846320" cy="32004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383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Alternativas Recomendadas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840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Desarrollar modelo interno con mejores datos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Incorporar buró de crédito (historial, score)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Usar datos transaccionales y de comportamiento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Explorar proveedores alternativos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5. Implementar scoring híbrido (interno + externo)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3. Conclusiones y Plan de Acción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91695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Modelo interno con AUC=0.61: punto de partida útil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✓ Punto de corte 0.49: balancea riesgo y negocio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Proveedores AB y XY: sin poder predictivo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✗ Datos actuales: insuficientes para alto rendimiento</a:t>
            </a:r>
          </a:p>
          <a:p>
            <a:pPr>
              <a:spcAft>
                <a:spcPts val="12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⚠ Riesgo residual significativo en aprobaciones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PLAN DE ACCIÓN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Corto 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Implementar modelo actual con monitoreo estricto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4747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Mediano plazo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8862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Integrar datos de buró y transaccionales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846320"/>
            <a:ext cx="4846320" cy="11887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Largo plazo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2578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Desarrollar modelo interno robusto y automatizado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Calibri"/>
              </a:defRPr>
            </a:pPr>
            <a:r>
              <a:t>Próximos pasos: Enriquecer datos → Mejorar modelo → Reducir riesgo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Solventa  |  Bogotá, Colombia  |  www.solventa.co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